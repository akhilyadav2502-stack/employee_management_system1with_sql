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88" r:id="rId1"/>
  </p:sldMasterIdLst>
  <p:notesMasterIdLst>
    <p:notesMasterId r:id="rId20"/>
  </p:notesMasterIdLst>
  <p:sldIdLst>
    <p:sldId id="256" r:id="rId2"/>
    <p:sldId id="257" r:id="rId3"/>
    <p:sldId id="258" r:id="rId4"/>
    <p:sldId id="269" r:id="rId5"/>
    <p:sldId id="270" r:id="rId6"/>
    <p:sldId id="260" r:id="rId7"/>
    <p:sldId id="261" r:id="rId8"/>
    <p:sldId id="262" r:id="rId9"/>
    <p:sldId id="263" r:id="rId10"/>
    <p:sldId id="271" r:id="rId11"/>
    <p:sldId id="264" r:id="rId12"/>
    <p:sldId id="265" r:id="rId13"/>
    <p:sldId id="272" r:id="rId14"/>
    <p:sldId id="266" r:id="rId15"/>
    <p:sldId id="273" r:id="rId16"/>
    <p:sldId id="267" r:id="rId17"/>
    <p:sldId id="268" r:id="rId18"/>
    <p:sldId id="259" r:id="rId19"/>
  </p:sldIdLst>
  <p:sldSz cx="12192000" cy="6858000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  <p:boldItalic r:id="rId28"/>
    </p:embeddedFont>
    <p:embeddedFont>
      <p:font typeface="Rockwell" panose="02060603020205020403" pitchFamily="18" charset="0"/>
      <p:regular r:id="rId29"/>
      <p:bold r:id="rId30"/>
      <p:italic r:id="rId31"/>
      <p:boldItalic r:id="rId32"/>
    </p:embeddedFont>
    <p:embeddedFont>
      <p:font typeface="Rockwell Condensed" panose="02060603050405020104" pitchFamily="18" charset="0"/>
      <p:regular r:id="rId33"/>
      <p:bold r:id="rId34"/>
    </p:embeddedFont>
  </p:embeddedFontLst>
  <p:custShowLst>
    <p:custShow name="EMS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2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24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32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7840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18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4556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7292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170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17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9455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0863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81849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11782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69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6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akhilyadav2502-stack" TargetMode="External"/><Relationship Id="rId5" Type="http://schemas.openxmlformats.org/officeDocument/2006/relationships/hyperlink" Target="https://www.linkedin.com/in/akhilyadav25/" TargetMode="Externa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80" y="8709"/>
            <a:ext cx="12131040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23374" y="3278505"/>
            <a:ext cx="7246189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algn="ctr">
              <a:buNone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r>
              <a:rPr lang="en-US" dirty="0">
                <a:solidFill>
                  <a:schemeClr val="tx1"/>
                </a:solidFill>
                <a:ea typeface="Calibri" pitchFamily="34" charset="-122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r>
              <a:rPr lang="en-US" dirty="0">
                <a:solidFill>
                  <a:schemeClr val="tx1"/>
                </a:solidFill>
                <a:ea typeface="Calibri" pitchFamily="34" charset="-122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dirty="0">
              <a:solidFill>
                <a:schemeClr val="tx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CA353-0678-4231-100A-51307CD001A0}"/>
              </a:ext>
            </a:extLst>
          </p:cNvPr>
          <p:cNvSpPr txBox="1"/>
          <p:nvPr/>
        </p:nvSpPr>
        <p:spPr>
          <a:xfrm>
            <a:off x="2273416" y="5419288"/>
            <a:ext cx="7105475" cy="369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DF74E72-64B2-4863-D51B-DDCD0A2D8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416" y="2625965"/>
            <a:ext cx="1973262" cy="182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CD3272-B9D9-BCA5-9F4B-A1E2BB6C7ECF}"/>
              </a:ext>
            </a:extLst>
          </p:cNvPr>
          <p:cNvSpPr txBox="1"/>
          <p:nvPr/>
        </p:nvSpPr>
        <p:spPr>
          <a:xfrm>
            <a:off x="4152265" y="3907226"/>
            <a:ext cx="41244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&amp; Analytics using MySQL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22E4C-7A05-8562-09C7-BE7A95AA0DA7}"/>
              </a:ext>
            </a:extLst>
          </p:cNvPr>
          <p:cNvSpPr txBox="1"/>
          <p:nvPr/>
        </p:nvSpPr>
        <p:spPr>
          <a:xfrm>
            <a:off x="8367978" y="5163986"/>
            <a:ext cx="1301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E615C-E78C-6CF7-297E-32BBEA3908D9}"/>
              </a:ext>
            </a:extLst>
          </p:cNvPr>
          <p:cNvSpPr txBox="1"/>
          <p:nvPr/>
        </p:nvSpPr>
        <p:spPr>
          <a:xfrm>
            <a:off x="8838151" y="5468009"/>
            <a:ext cx="1298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Akhil Yadav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48DEEC-B1CD-0EAD-7712-34799FB6668F}"/>
              </a:ext>
            </a:extLst>
          </p:cNvPr>
          <p:cNvSpPr txBox="1"/>
          <p:nvPr/>
        </p:nvSpPr>
        <p:spPr>
          <a:xfrm>
            <a:off x="8847910" y="5683453"/>
            <a:ext cx="15781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Swamy Yadav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CDEE50-140A-19E5-9962-5F23E39EBC09}"/>
              </a:ext>
            </a:extLst>
          </p:cNvPr>
          <p:cNvSpPr txBox="1"/>
          <p:nvPr/>
        </p:nvSpPr>
        <p:spPr>
          <a:xfrm>
            <a:off x="287300" y="6166306"/>
            <a:ext cx="43712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>
                <a:schemeClr val="dk1"/>
              </a:buClr>
              <a:buSzPts val="2400"/>
            </a:pPr>
            <a:r>
              <a:rPr lang="en-IN" sz="14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https://www.linkedin.com/in/akhilyadav25/</a:t>
            </a:r>
            <a:endParaRPr lang="en-IN" sz="1400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US" alt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https://github.com/akhilyadav2502-stack</a:t>
            </a:r>
            <a:endParaRPr lang="en-US" alt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1E927D-9BF5-C6B5-8353-DC15A55B23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086" y="6187213"/>
            <a:ext cx="274427" cy="2464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5BECE8F-7206-E7E4-EE1C-F97DDED6FC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976" y="6381787"/>
            <a:ext cx="328646" cy="328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AE77AD-5E55-C4E3-368E-7B31D1ED536E}"/>
              </a:ext>
            </a:extLst>
          </p:cNvPr>
          <p:cNvSpPr txBox="1"/>
          <p:nvPr/>
        </p:nvSpPr>
        <p:spPr>
          <a:xfrm>
            <a:off x="8823843" y="5859039"/>
            <a:ext cx="616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N. Sai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Venkatesh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-3342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Data Analytics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75360" y="97536"/>
            <a:ext cx="103632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46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4901184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389120" y="1036320"/>
            <a:ext cx="74371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867" dirty="0">
              <a:solidFill>
                <a:srgbClr val="002060"/>
              </a:solidFill>
            </a:endParaRPr>
          </a:p>
        </p:txBody>
      </p:sp>
      <p:sp>
        <p:nvSpPr>
          <p:cNvPr id="20" name="Text 13"/>
          <p:cNvSpPr/>
          <p:nvPr/>
        </p:nvSpPr>
        <p:spPr>
          <a:xfrm>
            <a:off x="1207008" y="1584960"/>
            <a:ext cx="63398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67" dirty="0">
              <a:solidFill>
                <a:srgbClr val="002060"/>
              </a:solidFill>
            </a:endParaRPr>
          </a:p>
        </p:txBody>
      </p:sp>
      <p:sp>
        <p:nvSpPr>
          <p:cNvPr id="21" name="Shape 14"/>
          <p:cNvSpPr/>
          <p:nvPr/>
        </p:nvSpPr>
        <p:spPr>
          <a:xfrm>
            <a:off x="280416" y="1105711"/>
            <a:ext cx="7437120" cy="1072896"/>
          </a:xfrm>
          <a:prstGeom prst="rect">
            <a:avLst/>
          </a:prstGeom>
          <a:noFill/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sz="24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92" y="1403702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94038" y="1174109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467" dirty="0">
              <a:solidFill>
                <a:srgbClr val="002060"/>
              </a:solidFill>
            </a:endParaRPr>
          </a:p>
        </p:txBody>
      </p:sp>
      <p:sp>
        <p:nvSpPr>
          <p:cNvPr id="24" name="Text 16"/>
          <p:cNvSpPr/>
          <p:nvPr/>
        </p:nvSpPr>
        <p:spPr>
          <a:xfrm>
            <a:off x="1194038" y="1535198"/>
            <a:ext cx="63398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HR, payroll and leave data into actionable business insights using structured query logic.</a:t>
            </a:r>
            <a:endParaRPr lang="en-US" sz="1267" dirty="0">
              <a:solidFill>
                <a:srgbClr val="002060"/>
              </a:solidFill>
            </a:endParaRPr>
          </a:p>
        </p:txBody>
      </p:sp>
      <p:sp>
        <p:nvSpPr>
          <p:cNvPr id="25" name="Shape 17"/>
          <p:cNvSpPr/>
          <p:nvPr/>
        </p:nvSpPr>
        <p:spPr>
          <a:xfrm>
            <a:off x="280416" y="2795476"/>
            <a:ext cx="7437120" cy="1072896"/>
          </a:xfrm>
          <a:prstGeom prst="rect">
            <a:avLst/>
          </a:prstGeom>
          <a:noFill/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92" y="3149044"/>
            <a:ext cx="548640" cy="54864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106340" y="2966164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Data Analytics?</a:t>
            </a:r>
            <a:endParaRPr lang="en-US" sz="1467" dirty="0"/>
          </a:p>
        </p:txBody>
      </p:sp>
      <p:sp>
        <p:nvSpPr>
          <p:cNvPr id="28" name="Text 19"/>
          <p:cNvSpPr/>
          <p:nvPr/>
        </p:nvSpPr>
        <p:spPr>
          <a:xfrm>
            <a:off x="1106340" y="3257853"/>
            <a:ext cx="63398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bridges finance and strategy. Evidence-based decisions drive better outcomes in any business domain.</a:t>
            </a:r>
            <a:endParaRPr lang="en-US" sz="1267" dirty="0">
              <a:solidFill>
                <a:srgbClr val="002060"/>
              </a:solidFill>
            </a:endParaRPr>
          </a:p>
        </p:txBody>
      </p:sp>
      <p:sp>
        <p:nvSpPr>
          <p:cNvPr id="29" name="Shape 20"/>
          <p:cNvSpPr/>
          <p:nvPr/>
        </p:nvSpPr>
        <p:spPr>
          <a:xfrm>
            <a:off x="280416" y="4381402"/>
            <a:ext cx="7437120" cy="1072896"/>
          </a:xfrm>
          <a:prstGeom prst="rect">
            <a:avLst/>
          </a:prstGeom>
          <a:noFill/>
          <a:ln w="12700">
            <a:solidFill>
              <a:srgbClr val="0891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sz="24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61" y="4718304"/>
            <a:ext cx="548640" cy="5486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194038" y="4472654"/>
            <a:ext cx="633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67" dirty="0">
              <a:solidFill>
                <a:srgbClr val="002060"/>
              </a:solidFill>
            </a:endParaRPr>
          </a:p>
        </p:txBody>
      </p:sp>
      <p:sp>
        <p:nvSpPr>
          <p:cNvPr id="32" name="Text 22"/>
          <p:cNvSpPr/>
          <p:nvPr/>
        </p:nvSpPr>
        <p:spPr>
          <a:xfrm>
            <a:off x="1194038" y="4853812"/>
            <a:ext cx="633984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employees · 6 normalized tables · 21 analytical queries across HR, payroll, qualifications and leave.</a:t>
            </a:r>
            <a:endParaRPr lang="en-US" sz="1267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60059" y="511729"/>
            <a:ext cx="3590487" cy="79547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chemeClr val="bg1"/>
                </a:solidFill>
                <a:highlight>
                  <a:srgbClr val="FF0000"/>
                </a:highlight>
              </a:rPr>
              <a:t>Agenda</a:t>
            </a:r>
            <a:endParaRPr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Employee Insights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Job Role &amp; Department Analysis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Qualification &amp; Skills Analysis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Leave &amp; Absence Patterns </a:t>
            </a:r>
            <a:endParaRPr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Payroll &amp; Compensation Analysis </a:t>
            </a:r>
            <a:endParaRPr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Challenges, Conclusion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427AEE-02F6-53AC-D9C7-E539D8736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839"/>
            <a:ext cx="12171298" cy="6358855"/>
          </a:xfrm>
          <a:prstGeom prst="rect">
            <a:avLst/>
          </a:prstGeom>
        </p:spPr>
      </p:pic>
      <p:sp>
        <p:nvSpPr>
          <p:cNvPr id="2" name="Shape 1">
            <a:extLst>
              <a:ext uri="{FF2B5EF4-FFF2-40B4-BE49-F238E27FC236}">
                <a16:creationId xmlns:a16="http://schemas.microsoft.com/office/drawing/2014/main" id="{D39B7686-106E-1B9D-487C-A08F8015B174}"/>
              </a:ext>
            </a:extLst>
          </p:cNvPr>
          <p:cNvSpPr/>
          <p:nvPr/>
        </p:nvSpPr>
        <p:spPr>
          <a:xfrm>
            <a:off x="0" y="-3342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ER-DIAGRAM / Reverse - Engineering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36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C235FBC-853A-D930-1D75-7255F43AF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0" y="1271609"/>
            <a:ext cx="4568702" cy="23243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52BAF7-E83F-CAB6-1C50-4AEBEE7AE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8" y="1290660"/>
            <a:ext cx="3758260" cy="228619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DDC289A-602A-DF64-7EFE-5011B41B5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6040" y="4472142"/>
            <a:ext cx="2814269" cy="226463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8B5713F-9284-E4C6-36C2-4D30C1ED55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114" y="4458199"/>
            <a:ext cx="5182049" cy="22785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7A9F4DC-F07F-F414-01C6-C12C691FF6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488" y="1275419"/>
            <a:ext cx="3261643" cy="230143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2A8E9A8-DFA9-A6AD-188A-D90F48530245}"/>
              </a:ext>
            </a:extLst>
          </p:cNvPr>
          <p:cNvSpPr txBox="1"/>
          <p:nvPr/>
        </p:nvSpPr>
        <p:spPr>
          <a:xfrm>
            <a:off x="4106411" y="4007316"/>
            <a:ext cx="2160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Leaves</a:t>
            </a:r>
            <a:r>
              <a:rPr lang="en-IN" dirty="0"/>
              <a:t> </a:t>
            </a:r>
            <a:r>
              <a:rPr lang="en-IN" sz="1400" b="1" dirty="0">
                <a:solidFill>
                  <a:srgbClr val="FF0000"/>
                </a:solidFill>
              </a:rPr>
              <a:t>Table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108889-EE4D-04D7-A5A2-F245F9A7B607}"/>
              </a:ext>
            </a:extLst>
          </p:cNvPr>
          <p:cNvSpPr txBox="1"/>
          <p:nvPr/>
        </p:nvSpPr>
        <p:spPr>
          <a:xfrm>
            <a:off x="78799" y="780544"/>
            <a:ext cx="295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Job</a:t>
            </a:r>
            <a:r>
              <a:rPr lang="en-IN" dirty="0"/>
              <a:t> </a:t>
            </a:r>
            <a:r>
              <a:rPr lang="en-IN" sz="1400" b="1" dirty="0">
                <a:solidFill>
                  <a:srgbClr val="FF0000"/>
                </a:solidFill>
              </a:rPr>
              <a:t>Department</a:t>
            </a:r>
            <a:r>
              <a:rPr lang="en-IN" dirty="0"/>
              <a:t> </a:t>
            </a:r>
            <a:r>
              <a:rPr lang="en-IN" sz="1400" b="1" dirty="0">
                <a:solidFill>
                  <a:srgbClr val="FF0000"/>
                </a:solidFill>
              </a:rPr>
              <a:t>table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B5FA35-7B82-CB77-D8CB-CDA1381011C5}"/>
              </a:ext>
            </a:extLst>
          </p:cNvPr>
          <p:cNvSpPr txBox="1"/>
          <p:nvPr/>
        </p:nvSpPr>
        <p:spPr>
          <a:xfrm>
            <a:off x="6082025" y="842332"/>
            <a:ext cx="2952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Salary table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2CDDC5-086A-EECC-76FA-6C4E8D5F87AC}"/>
              </a:ext>
            </a:extLst>
          </p:cNvPr>
          <p:cNvSpPr txBox="1"/>
          <p:nvPr/>
        </p:nvSpPr>
        <p:spPr>
          <a:xfrm>
            <a:off x="9391476" y="775882"/>
            <a:ext cx="2952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Employees</a:t>
            </a:r>
            <a:r>
              <a:rPr lang="en-IN" dirty="0"/>
              <a:t> </a:t>
            </a:r>
            <a:r>
              <a:rPr lang="en-IN" sz="1400" b="1" dirty="0">
                <a:solidFill>
                  <a:srgbClr val="FF0000"/>
                </a:solidFill>
              </a:rPr>
              <a:t>table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321DEB-AB76-F992-AC35-DB4630410D94}"/>
              </a:ext>
            </a:extLst>
          </p:cNvPr>
          <p:cNvSpPr txBox="1"/>
          <p:nvPr/>
        </p:nvSpPr>
        <p:spPr>
          <a:xfrm>
            <a:off x="7847675" y="4007316"/>
            <a:ext cx="167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Payroll</a:t>
            </a:r>
            <a:r>
              <a:rPr lang="en-IN" dirty="0"/>
              <a:t> </a:t>
            </a:r>
            <a:r>
              <a:rPr lang="en-IN" sz="1400" b="1" dirty="0">
                <a:solidFill>
                  <a:srgbClr val="FF0000"/>
                </a:solidFill>
              </a:rPr>
              <a:t>table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5A69D80A-BA8C-0800-2302-2E53414119CD}"/>
              </a:ext>
            </a:extLst>
          </p:cNvPr>
          <p:cNvSpPr/>
          <p:nvPr/>
        </p:nvSpPr>
        <p:spPr>
          <a:xfrm>
            <a:off x="0" y="-3342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AECCC-071E-7324-5E02-DCDD8B0A5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472142"/>
            <a:ext cx="3582099" cy="23700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0107A7-4125-82B5-A905-F41EEDCB8189}"/>
              </a:ext>
            </a:extLst>
          </p:cNvPr>
          <p:cNvSpPr txBox="1"/>
          <p:nvPr/>
        </p:nvSpPr>
        <p:spPr>
          <a:xfrm>
            <a:off x="230925" y="4048092"/>
            <a:ext cx="3275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	</a:t>
            </a:r>
            <a:r>
              <a:rPr lang="en-IN" sz="1400" b="1" dirty="0">
                <a:solidFill>
                  <a:srgbClr val="FF0000"/>
                </a:solidFill>
              </a:rPr>
              <a:t>Qualification</a:t>
            </a:r>
            <a:r>
              <a:rPr lang="en-IN" sz="1400" dirty="0"/>
              <a:t> </a:t>
            </a:r>
            <a:r>
              <a:rPr lang="en-IN" sz="1400" b="1" dirty="0">
                <a:solidFill>
                  <a:srgbClr val="FF0000"/>
                </a:solidFill>
              </a:rPr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935902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Project Objective</a:t>
            </a:r>
          </a:p>
        </p:txBody>
      </p:sp>
      <p:sp>
        <p:nvSpPr>
          <p:cNvPr id="360" name="LeftCol"/>
          <p:cNvSpPr txBox="1"/>
          <p:nvPr/>
        </p:nvSpPr>
        <p:spPr>
          <a:xfrm>
            <a:off x="0" y="662430"/>
            <a:ext cx="6852191" cy="556610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400" b="1" dirty="0">
                <a:solidFill>
                  <a:srgbClr val="CC0000"/>
                </a:solidFill>
                <a:latin typeface="Calibri"/>
              </a:rPr>
              <a:t>About the Project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C0000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IN" sz="1900" b="1" dirty="0"/>
              <a:t>Build a relational Employee Management System using MySQL</a:t>
            </a:r>
            <a:endParaRPr sz="19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IN" sz="1900" b="1" dirty="0"/>
              <a:t>Design normalized tables: Employee, JobDepartment, SalaryBonus, Qualification, Leaves, Payroll</a:t>
            </a:r>
            <a:endParaRPr sz="19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IN" sz="1900" b="1" dirty="0"/>
              <a:t>Write SQL queries to extract HR, payroll, and performance insights</a:t>
            </a:r>
            <a:endParaRPr sz="19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-IN" sz="1900" b="1" dirty="0"/>
              <a:t>60 employees across 10+ departments with 21 analytical queries</a:t>
            </a:r>
            <a:endParaRPr sz="19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9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CC0000"/>
                </a:solidFill>
                <a:latin typeface="Calibri"/>
              </a:rPr>
              <a:t>Database Tables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CC0000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Employee  →  JobDepartment  →  SalaryBonus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Employee  →  Leaves  →  Payroll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Employee  →  Qualification</a:t>
            </a:r>
            <a:endParaRPr sz="1700" dirty="0"/>
          </a:p>
        </p:txBody>
      </p:sp>
      <p:sp>
        <p:nvSpPr>
          <p:cNvPr id="460" name="RightCol"/>
          <p:cNvSpPr txBox="1"/>
          <p:nvPr/>
        </p:nvSpPr>
        <p:spPr>
          <a:xfrm>
            <a:off x="6793468" y="1140609"/>
            <a:ext cx="5339809" cy="476076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Key Constraints Used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PRIMARY KEY on every table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FOREIGN KEY with ON DELETE CASCADE / SET NULL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UNIQUE constraint on </a:t>
            </a:r>
            <a:r>
              <a:rPr lang="en-IN" sz="1700" b="1" dirty="0" err="1"/>
              <a:t>emp_email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DATE fields in YYYY-MM-DD format</a:t>
            </a:r>
            <a:endParaRPr sz="17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Challenges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Defining correct FK relationships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Cascading updates &amp; deletes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Complex multi-table JOINs</a:t>
            </a:r>
            <a:endParaRPr sz="17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700"/>
              <a:buChar char="•"/>
            </a:pPr>
            <a:r>
              <a:rPr lang="en-IN" sz="1700" b="1" dirty="0"/>
              <a:t>Preventing duplicate emails</a:t>
            </a:r>
            <a:endParaRPr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Employee Insights</a:t>
            </a:r>
          </a:p>
        </p:txBody>
      </p:sp>
      <p:sp>
        <p:nvSpPr>
          <p:cNvPr id="361" name="LeftCol"/>
          <p:cNvSpPr txBox="1"/>
          <p:nvPr/>
        </p:nvSpPr>
        <p:spPr>
          <a:xfrm>
            <a:off x="100667" y="768767"/>
            <a:ext cx="6391333" cy="478916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CC0000"/>
                </a:solidFill>
                <a:latin typeface="Calibri"/>
              </a:rPr>
              <a:t>Overview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This section explores the employee table to understand headcount, salary distribution, and expenditure across the company.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Q1: How many unique employees are in the system?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DISTINCT * FROM employee;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Returns all 60 unique employee records. The DISTINCT keyword ensures no duplicate rows appear.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Q2: Which department has the highest number of employees?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jobdept, COUNT(</a:t>
            </a:r>
            <a:r>
              <a:rPr lang="en-IN" sz="1400" b="0" i="0" dirty="0" err="1">
                <a:solidFill>
                  <a:srgbClr val="1F3864"/>
                </a:solidFill>
                <a:latin typeface="Consolas"/>
              </a:rPr>
              <a:t>Job_id</a:t>
            </a: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) AS </a:t>
            </a:r>
            <a:r>
              <a:rPr lang="en-IN" sz="1400" b="0" i="0" dirty="0" err="1">
                <a:solidFill>
                  <a:srgbClr val="1F3864"/>
                </a:solidFill>
                <a:latin typeface="Consolas"/>
              </a:rPr>
              <a:t>No_of_Employees</a:t>
            </a:r>
            <a:endParaRPr lang="en-IN" sz="1400" b="0" i="0" dirty="0">
              <a:solidFill>
                <a:srgbClr val="1F3864"/>
              </a:solidFill>
              <a:latin typeface="Consolas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</a:t>
            </a:r>
            <a:r>
              <a:rPr lang="en-IN" sz="1400" b="0" i="0" dirty="0" err="1">
                <a:solidFill>
                  <a:srgbClr val="1F3864"/>
                </a:solidFill>
                <a:latin typeface="Consolas"/>
              </a:rPr>
              <a:t>jobdepartment</a:t>
            </a:r>
            <a:endParaRPr lang="en-IN" sz="1400" b="0" i="0" dirty="0">
              <a:solidFill>
                <a:srgbClr val="1F3864"/>
              </a:solidFill>
              <a:latin typeface="Consolas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jobdept ORDER BY No_of_Employees DESC LIMIT 1;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Groups jobs by department, counts roles, and returns the top department by headcount.</a:t>
            </a:r>
          </a:p>
        </p:txBody>
      </p:sp>
      <p:sp>
        <p:nvSpPr>
          <p:cNvPr id="461" name="RightCol"/>
          <p:cNvSpPr txBox="1"/>
          <p:nvPr/>
        </p:nvSpPr>
        <p:spPr>
          <a:xfrm>
            <a:off x="6492000" y="619241"/>
            <a:ext cx="5700000" cy="4472989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Result Preview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1F3864"/>
                </a:solidFill>
                <a:latin typeface="Calibri"/>
              </a:rPr>
              <a:t>Total Employees:  60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333333"/>
                </a:solidFill>
                <a:latin typeface="Calibri"/>
              </a:rPr>
              <a:t>Top Department by Count: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Finance — 9 Employees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CC0000"/>
                </a:solidFill>
                <a:latin typeface="Calibri"/>
              </a:rPr>
              <a:t>Key SQL Concepts Used: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IN" sz="1600" b="1" dirty="0"/>
              <a:t>DISTINCT — removes duplicate rows</a:t>
            </a:r>
            <a:endParaRPr sz="16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IN" sz="1600" b="1" dirty="0"/>
              <a:t>COUNT() — counts matching rows</a:t>
            </a:r>
            <a:endParaRPr sz="16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IN" sz="1600" b="1" dirty="0"/>
              <a:t>GROUP BY — aggregates per department</a:t>
            </a:r>
            <a:endParaRPr sz="16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IN" sz="1600" b="1" dirty="0"/>
              <a:t>ORDER BY DESC — sorts highest first</a:t>
            </a:r>
            <a:endParaRPr sz="16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600"/>
              <a:buChar char="•"/>
            </a:pPr>
            <a:r>
              <a:rPr lang="en-IN" sz="1600" b="1" dirty="0"/>
              <a:t>LIMIT 1 — returns only top result</a:t>
            </a:r>
            <a:endParaRPr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 Employee Insights (Contd.)</a:t>
            </a:r>
          </a:p>
        </p:txBody>
      </p:sp>
      <p:sp>
        <p:nvSpPr>
          <p:cNvPr id="362" name="LeftCol"/>
          <p:cNvSpPr txBox="1"/>
          <p:nvPr/>
        </p:nvSpPr>
        <p:spPr>
          <a:xfrm>
            <a:off x="0" y="810410"/>
            <a:ext cx="6200000" cy="57912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Q3: What is the average salary per department?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jd.jobdept, AVG(sb.amount) AS avg_salary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JobDepartment jd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JOIN SalaryBonus sb ON jd.Job_ID = sb.Job_ID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jd.jobdept;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Joins JobDepartment with SalaryBonus and computes average monthly salary per department.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Q4: Who are the top 5 highest-paid employees?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e.emp_ID, e.firstname, e.lastname, sb.amount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Employee e JOIN SalaryBonus sb ON e.Job_ID = sb.Job_ID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ORDER BY sb.amount DESC LIMIT 5;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Joins Employee and SalaryBonus tables, sorts by salary descending, returns top 5.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Q5: What is the total salary expenditure  across the company?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SUM(total_amount) AS total_salary_expenditure FROM Payroll;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Aggregates the total_amount column across all payroll records.</a:t>
            </a:r>
          </a:p>
        </p:txBody>
      </p:sp>
      <p:sp>
        <p:nvSpPr>
          <p:cNvPr id="462" name="RightCol"/>
          <p:cNvSpPr txBox="1"/>
          <p:nvPr/>
        </p:nvSpPr>
        <p:spPr>
          <a:xfrm>
            <a:off x="7986319" y="964298"/>
            <a:ext cx="3643618" cy="5262949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Average Salary per Department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b="0" dirty="0">
              <a:solidFill>
                <a:srgbClr val="555555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dirty="0">
              <a:solidFill>
                <a:srgbClr val="555555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b="0" dirty="0">
              <a:solidFill>
                <a:srgbClr val="555555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dirty="0">
              <a:solidFill>
                <a:srgbClr val="555555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b="0" dirty="0">
              <a:solidFill>
                <a:srgbClr val="555555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b="0" dirty="0">
              <a:solidFill>
                <a:srgbClr val="555555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Top 5 Paid Employees: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1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1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1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Total Payroll Expenditure: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1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400" b="1" dirty="0">
              <a:solidFill>
                <a:srgbClr val="CC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F3CE30-1139-7C55-5C3C-778DD0122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934" y="1548804"/>
            <a:ext cx="2122414" cy="1793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3B0C49-C4AF-503E-4A26-416E2C762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488" y="3826408"/>
            <a:ext cx="2590414" cy="10509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0B3FE8-4328-294D-5C5B-6B84B7D47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693" y="5361970"/>
            <a:ext cx="2091655" cy="4953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Job Role &amp; Department Analysis</a:t>
            </a:r>
          </a:p>
        </p:txBody>
      </p:sp>
      <p:sp>
        <p:nvSpPr>
          <p:cNvPr id="363" name="LeftCol"/>
          <p:cNvSpPr txBox="1"/>
          <p:nvPr/>
        </p:nvSpPr>
        <p:spPr>
          <a:xfrm>
            <a:off x="0" y="523220"/>
            <a:ext cx="6200000" cy="588670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Q6: How many different job roles exist in each department?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jobdept, COUNT(DISTINCT Job_ID) AS total_roles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JobDepartment GROUP BY jobdept;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Counts unique Job_IDs per department. Finance, IT, Engineering     each have 8+ distinct roles.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Q7: What is the average salary range per department?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jd.jobdept, AVG(sb.amount) AS avg_salary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JobDepartment jd JOIN SalaryBonus sb ON jd.Job_ID = sb.Job_ID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jd.jobdept;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  </a:t>
            </a:r>
            <a:r>
              <a:rPr lang="en-IN" sz="1700" dirty="0">
                <a:solidFill>
                  <a:srgbClr val="333333"/>
                </a:solidFill>
                <a:latin typeface="Calibri"/>
              </a:rPr>
              <a:t>C</a:t>
            </a:r>
            <a:r>
              <a:rPr lang="en-IN" sz="1700" b="0" dirty="0">
                <a:solidFill>
                  <a:srgbClr val="333333"/>
                </a:solidFill>
                <a:latin typeface="Calibri"/>
              </a:rPr>
              <a:t>onfirms which departments offer the highest average pay.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Q8: Which job role offers the highest salary?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jd.Job_ID, jd.jobdept, MAX(sb.amount) AS highest_salary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JobDepartment jd JOIN SalaryBonus sb ON jd.Job_ID = sb.Job_ID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jd.Job_ID, jd.jobdept ORDER BY highest_salary DESC LIMIT 1;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Uses MAX() aggregation. Result: Finance Director at $170,000/month.</a:t>
            </a:r>
          </a:p>
        </p:txBody>
      </p:sp>
      <p:sp>
        <p:nvSpPr>
          <p:cNvPr id="463" name="RightCol"/>
          <p:cNvSpPr txBox="1"/>
          <p:nvPr/>
        </p:nvSpPr>
        <p:spPr>
          <a:xfrm>
            <a:off x="6311708" y="523220"/>
            <a:ext cx="5880292" cy="637094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lvl="0">
              <a:spcBef>
                <a:spcPts val="400"/>
              </a:spcBef>
            </a:pPr>
            <a:r>
              <a:rPr lang="en-IN" b="1" dirty="0">
                <a:solidFill>
                  <a:srgbClr val="CC0000"/>
                </a:solidFill>
                <a:latin typeface="Calibri"/>
              </a:rPr>
              <a:t>Departments And Job roles:                                                              </a:t>
            </a: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IN" b="1" dirty="0">
                <a:solidFill>
                  <a:srgbClr val="CC0000"/>
                </a:solidFill>
                <a:latin typeface="Calibri"/>
              </a:rPr>
              <a:t>Department And </a:t>
            </a:r>
            <a:r>
              <a:rPr lang="en-IN" b="1" dirty="0" err="1">
                <a:solidFill>
                  <a:srgbClr val="CC0000"/>
                </a:solidFill>
                <a:latin typeface="Calibri"/>
              </a:rPr>
              <a:t>Avg_Salary</a:t>
            </a:r>
            <a:r>
              <a:rPr lang="en-IN" b="1" dirty="0">
                <a:solidFill>
                  <a:srgbClr val="CC0000"/>
                </a:solidFill>
                <a:latin typeface="Calibri"/>
              </a:rPr>
              <a:t>:</a:t>
            </a: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IN" b="1" dirty="0">
                <a:solidFill>
                  <a:srgbClr val="CC0000"/>
                </a:solidFill>
                <a:latin typeface="Calibri"/>
              </a:rPr>
              <a:t> Highest salary of To Particular Role:</a:t>
            </a: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  <a:p>
            <a:pPr lvl="0">
              <a:spcBef>
                <a:spcPts val="400"/>
              </a:spcBef>
            </a:pPr>
            <a:endParaRPr lang="en-IN" b="1" dirty="0">
              <a:solidFill>
                <a:srgbClr val="CC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A4329-6771-A77E-3426-F282C8A85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895" y="943528"/>
            <a:ext cx="2805959" cy="17388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0AA305-D6E2-4806-8E03-29D8098C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895" y="3230403"/>
            <a:ext cx="3347872" cy="1890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23E22-7CB9-E1AC-B868-FC09032BC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95" y="5644103"/>
            <a:ext cx="3429758" cy="631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A8E9C-F12C-261A-BD98-0B173D4C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68" y="1441899"/>
            <a:ext cx="5353783" cy="4648508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b="1" dirty="0">
                <a:solidFill>
                  <a:srgbClr val="1F3864"/>
                </a:solidFill>
                <a:latin typeface="Calibri"/>
              </a:rPr>
              <a:t>Q</a:t>
            </a:r>
            <a:r>
              <a:rPr lang="en-IN" sz="1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9:Which Departments have the Highest Total Salary Allocation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jd.jobdept, SUM(sb.amount) As total_salary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Employee e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JobDepartment jd ON e.Job_ID = jd.Job_ID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SalaryBonus sb ON jd.Job_ID = sb.Job_ID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jd.jobdept ORDER BY total_salary DESC LIMIT 3;</a:t>
            </a:r>
          </a:p>
          <a:p>
            <a:pPr marL="228600" lvl="0" indent="0">
              <a:spcBef>
                <a:spcPts val="300"/>
              </a:spcBef>
              <a:buNone/>
            </a:pPr>
            <a:endParaRPr lang="en-IN" sz="1800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8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Triple JOIN: links Employee → JobDepartment → SalaryBonus. SUM aggregates payroll per dept.</a:t>
            </a:r>
          </a:p>
          <a:p>
            <a:pPr marL="0" indent="0">
              <a:buNone/>
            </a:pPr>
            <a:r>
              <a:rPr lang="en-IN" dirty="0"/>
              <a:t> 		</a:t>
            </a:r>
          </a:p>
        </p:txBody>
      </p:sp>
      <p:sp>
        <p:nvSpPr>
          <p:cNvPr id="5" name="TopBar">
            <a:extLst>
              <a:ext uri="{FF2B5EF4-FFF2-40B4-BE49-F238E27FC236}">
                <a16:creationId xmlns:a16="http://schemas.microsoft.com/office/drawing/2014/main" id="{B61928AC-A002-1E22-41E4-845198A0D1FF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Job Role &amp; Department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ADC7F-A4A5-C31C-5B17-876E5B10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10743"/>
            <a:ext cx="4224630" cy="193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2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 Qualification &amp; Skills Analysis</a:t>
            </a:r>
          </a:p>
        </p:txBody>
      </p:sp>
      <p:sp>
        <p:nvSpPr>
          <p:cNvPr id="364" name="LeftCol"/>
          <p:cNvSpPr txBox="1"/>
          <p:nvPr/>
        </p:nvSpPr>
        <p:spPr>
          <a:xfrm>
            <a:off x="58723" y="593328"/>
            <a:ext cx="6492000" cy="609138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Q10: How many employees have at least one qualification?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COUNT(DISTINCT Emp_ID) AS employees_with_qualification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Qualification;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Counts distinct employees in the Qualification table. Result: All 60 employees have at least one qualification listed.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Q11: Which positions require the most qualifications?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Position, COUNT(*) AS total_qualifications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Qualification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Position ORDER BY total_qualifications DESC LIMIT 3;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Groups qualifications by Position and counts entries. Identifies top 3 most requirement-heavy roles.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Q12: Which employees have the highest number of qualifications?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e.emp_ID, e.firstname, e.lastname, COUNT(q.QualID) AS total_qualifications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Employee e JOIN Qualification q ON e.emp_ID = q.Emp_ID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e.emp_ID, e.firstname, e.lastname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ORDER BY total_qualifications DESC;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JOINs Employee and Qualification tables. Since each employee has exactly 1 entry, all return count = 1.</a:t>
            </a:r>
          </a:p>
        </p:txBody>
      </p:sp>
      <p:sp>
        <p:nvSpPr>
          <p:cNvPr id="464" name="RightCol"/>
          <p:cNvSpPr txBox="1"/>
          <p:nvPr/>
        </p:nvSpPr>
        <p:spPr>
          <a:xfrm>
            <a:off x="6550723" y="785689"/>
            <a:ext cx="5486949" cy="58990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Employees With At least One qualification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1F3864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Positions and Their Qualifications</a:t>
            </a:r>
          </a:p>
          <a:p>
            <a:pPr>
              <a:spcBef>
                <a:spcPts val="400"/>
              </a:spcBef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endParaRPr lang="en-IN" sz="1900" b="1" dirty="0">
              <a:solidFill>
                <a:srgbClr val="CC0000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Employees With Highest No of Qualifications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0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6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EEB5A-83E3-4F72-E34E-D53C8CED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56" y="1192192"/>
            <a:ext cx="2336474" cy="577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F4A508-C743-4C7F-6E4F-BA8B96916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481" y="2645469"/>
            <a:ext cx="2941575" cy="12128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A30494-8896-799C-5C8D-91EB637C0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77" y="4400768"/>
            <a:ext cx="3049184" cy="22709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Leave &amp; Absence Patterns</a:t>
            </a:r>
          </a:p>
        </p:txBody>
      </p:sp>
      <p:sp>
        <p:nvSpPr>
          <p:cNvPr id="365" name="LeftCol"/>
          <p:cNvSpPr txBox="1"/>
          <p:nvPr/>
        </p:nvSpPr>
        <p:spPr>
          <a:xfrm>
            <a:off x="-1" y="531609"/>
            <a:ext cx="6920917" cy="641146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Q13: Which year had the most employees taking leaves?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YEAR(date) AS year, COUNT(DISTINCT emp_ID) AS employees_on_leave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Leaves GROUP BY YEAR(date) ORDER BY employees_on_leave DESC;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Uses YEAR() function to extract year from DATE field. All 60 leaves are in 2024.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Q14: Average number of leave days per employee per department?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jd.jobdept, AVG(emp_leave_count) AS avg_leaves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(SELECT emp_ID, COUNT(*) AS emp_leave_count FROM Leaves GROUP BY emp_ID) AS sub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JOIN Employee e ON sub.emp_ID = e.emp_ID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JOIN JobDepartment jd ON e.Job_ID = jd.Job_ID GROUP BY jd.jobdept;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Uses a SUBQUERY to count leaves per employee first, then JOINs to get department average.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Q15: Which employees have taken the most leaves?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e.emp_ID, e.firstname, e.lastname, COUNT(l.leave_ID) AS total_leaves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Employee e JOIN Leaves l ON e.emp_ID = l.emp_ID</a:t>
            </a:r>
          </a:p>
          <a:p>
            <a:pPr marL="228600" lvl="0" indent="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e.emp_ID, e.firstname, e.lastname ORDER BY total_leaves DESC;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Each employee has 1 leave record, so all return total_leaves = 1.</a:t>
            </a:r>
          </a:p>
        </p:txBody>
      </p:sp>
      <p:sp>
        <p:nvSpPr>
          <p:cNvPr id="465" name="RightCol"/>
          <p:cNvSpPr txBox="1"/>
          <p:nvPr/>
        </p:nvSpPr>
        <p:spPr>
          <a:xfrm>
            <a:off x="6920916" y="531609"/>
            <a:ext cx="5271084" cy="6319648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00000"/>
                </a:solidFill>
                <a:latin typeface="Calibri"/>
              </a:rPr>
              <a:t>Most Employees Taking Leaves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00000"/>
                </a:solidFill>
                <a:latin typeface="Calibri"/>
              </a:rPr>
              <a:t>AVERAGE No Of Leaves Per Department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00000"/>
                </a:solidFill>
                <a:latin typeface="Calibri"/>
              </a:rPr>
              <a:t>Most leaves Taken By which Employee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EB3383-0265-D599-3FEA-D124EADB6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463" y="955900"/>
            <a:ext cx="4403630" cy="9847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18E57D-D193-2661-118E-5F8DE0E3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463" y="2252287"/>
            <a:ext cx="3964688" cy="2128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E6458C-DC7E-B1E7-AB5C-28CD01E92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463" y="4861098"/>
            <a:ext cx="4403630" cy="19901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B0B6A-76BE-7D6F-1759-AFAD2155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3220"/>
            <a:ext cx="6447099" cy="6334780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1600" b="1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1600" b="1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1600" b="1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6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Q16: Total leave days company-wide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6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COUNT(*) AS total_leave_days FROM Leaves;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 60 total leave records for 2024.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16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16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1600" dirty="0">
              <a:solidFill>
                <a:srgbClr val="33333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600" b="1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Q17: Leave vs Payroll Correlation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6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e.emp_ID, COUNT(l.leave_ID) AS total_leaves,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6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SUM(p.total_amount) AS total_salary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6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Employee e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6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 JOIN Leaves l ON e.emp_ID = l.emp_ID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6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 JOIN Payroll p ON e.emp_ID = p.emp_ID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16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e.emp_ID;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16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LEFT JOIN to retain all employees even if no leave. Correlates leave count with total salary.</a:t>
            </a:r>
          </a:p>
          <a:p>
            <a:endParaRPr lang="en-IN" dirty="0"/>
          </a:p>
        </p:txBody>
      </p:sp>
      <p:sp>
        <p:nvSpPr>
          <p:cNvPr id="2" name="TopBar">
            <a:extLst>
              <a:ext uri="{FF2B5EF4-FFF2-40B4-BE49-F238E27FC236}">
                <a16:creationId xmlns:a16="http://schemas.microsoft.com/office/drawing/2014/main" id="{B168FC41-E7A0-9CE4-599C-4535170F46E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Leave &amp; Absence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DD6E2-695A-68AA-9957-39FF9EAE8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55982"/>
            <a:ext cx="2779409" cy="8473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DE7422-AEBA-CABD-19B4-92CEB0697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731" y="3234410"/>
            <a:ext cx="2991142" cy="29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34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Payroll &amp; Compensation Analysis</a:t>
            </a:r>
          </a:p>
        </p:txBody>
      </p:sp>
      <p:sp>
        <p:nvSpPr>
          <p:cNvPr id="366" name="LeftCol"/>
          <p:cNvSpPr txBox="1"/>
          <p:nvPr/>
        </p:nvSpPr>
        <p:spPr>
          <a:xfrm>
            <a:off x="0" y="523220"/>
            <a:ext cx="6157519" cy="6206797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IN" sz="1900" b="1" dirty="0">
              <a:solidFill>
                <a:srgbClr val="1F3864"/>
              </a:solidFill>
              <a:latin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Q18: What is the total monthly payroll processed?</a:t>
            </a:r>
          </a:p>
          <a:p>
            <a:pPr marL="22860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YEAR(date) AS year, MONTH(date) AS month,</a:t>
            </a:r>
          </a:p>
          <a:p>
            <a:pPr marL="22860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       SUM(total_amount) AS total_monthly_payroll</a:t>
            </a:r>
          </a:p>
          <a:p>
            <a:pPr marL="22860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Payroll GROUP BY YEAR(date), MONTH(date) ORDER BY year, month;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Extracts year and month from the payroll date. Groups and sums payroll per month. Result: April 2024 total = 2,77,800.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1F3864"/>
                </a:solidFill>
                <a:latin typeface="Calibri"/>
              </a:rPr>
              <a:t>Q19: What is the average bonus given per department?</a:t>
            </a:r>
          </a:p>
          <a:p>
            <a:pPr marL="22860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SELECT jd.jobdept, AVG(</a:t>
            </a:r>
            <a:r>
              <a:rPr lang="en-IN" sz="1400" b="0" i="0" dirty="0" err="1">
                <a:solidFill>
                  <a:srgbClr val="1F3864"/>
                </a:solidFill>
                <a:latin typeface="Consolas"/>
              </a:rPr>
              <a:t>sb.bonus</a:t>
            </a: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) AS avg_bonus</a:t>
            </a:r>
          </a:p>
          <a:p>
            <a:pPr marL="22860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FROM SalaryBonus sb JOIN JobDepartment jd ON sb.Job_ID = jd.Job_ID</a:t>
            </a:r>
          </a:p>
          <a:p>
            <a:pPr marL="22860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IN" sz="1400" b="0" i="0" dirty="0">
                <a:solidFill>
                  <a:srgbClr val="1F3864"/>
                </a:solidFill>
                <a:latin typeface="Consolas"/>
              </a:rPr>
              <a:t>GROUP BY jd.jobdept;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700" b="0" dirty="0">
                <a:solidFill>
                  <a:srgbClr val="333333"/>
                </a:solidFill>
                <a:latin typeface="Calibri"/>
              </a:rPr>
              <a:t>Averages the bonus column per department. Finance and Legal show highest average bonuses.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66" name="RightCol"/>
          <p:cNvSpPr txBox="1"/>
          <p:nvPr/>
        </p:nvSpPr>
        <p:spPr>
          <a:xfrm>
            <a:off x="6250223" y="952791"/>
            <a:ext cx="5849073" cy="5765651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700" b="0" dirty="0">
              <a:solidFill>
                <a:srgbClr val="333333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C699F-054F-4231-AF6A-B7FFC47E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178" y="1610550"/>
            <a:ext cx="5189877" cy="935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8BA329-1A2E-8781-3EC5-E6DCE2628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353" y="3935392"/>
            <a:ext cx="4890742" cy="26493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32D8-FFE3-3353-2E04-902D96630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6" y="551043"/>
            <a:ext cx="9537539" cy="5949387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2400" b="1" dirty="0">
              <a:solidFill>
                <a:srgbClr val="1F3864"/>
              </a:solidFill>
              <a:latin typeface="Calibri"/>
            </a:endParaRPr>
          </a:p>
          <a:p>
            <a:pPr marL="0" lvl="0" indent="0">
              <a:spcBef>
                <a:spcPts val="400"/>
              </a:spcBef>
              <a:buNone/>
            </a:pPr>
            <a:r>
              <a:rPr lang="en-IN" sz="2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Q20: Which department receives the highest total bonuses?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jd.jobdept, SUM(</a:t>
            </a:r>
            <a:r>
              <a:rPr lang="en-IN" sz="21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sb.bonus</a:t>
            </a: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IN" sz="21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total_bonus</a:t>
            </a:r>
            <a:endParaRPr lang="en-IN" sz="2100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SalaryBonus sb JOIN </a:t>
            </a:r>
            <a:r>
              <a:rPr lang="en-IN" sz="21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JobDepartment</a:t>
            </a: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jd ON sb.Job_ID = jd.Job_ID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BY jd.jobdept ORDER BY </a:t>
            </a:r>
            <a:r>
              <a:rPr lang="en-IN" sz="21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total_bonus</a:t>
            </a: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DESC LIMIT 1;</a:t>
            </a:r>
          </a:p>
          <a:p>
            <a:pPr marL="0" lvl="0" indent="0">
              <a:spcBef>
                <a:spcPts val="400"/>
              </a:spcBef>
              <a:buNone/>
            </a:pPr>
            <a:r>
              <a:rPr lang="en-IN" sz="2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Result: Finance Department — highest total bonus allocation.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21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21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21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endParaRPr lang="en-IN" sz="21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21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Q21: Average Adjusted Salary After Leaves</a:t>
            </a:r>
          </a:p>
          <a:p>
            <a:pPr marL="228600" lvl="0" indent="0">
              <a:spcBef>
                <a:spcPts val="300"/>
              </a:spcBef>
              <a:buNone/>
            </a:pP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AVG(</a:t>
            </a:r>
            <a:r>
              <a:rPr lang="en-IN" sz="21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total_amount</a:t>
            </a: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AS </a:t>
            </a:r>
            <a:r>
              <a:rPr lang="en-IN" sz="2100" dirty="0" err="1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avg_adjusted_salary</a:t>
            </a:r>
            <a:r>
              <a:rPr lang="en-IN" sz="21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Payroll;</a:t>
            </a:r>
          </a:p>
          <a:p>
            <a:pPr marL="0" lv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IN" sz="2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Averages the </a:t>
            </a:r>
            <a:r>
              <a:rPr lang="en-IN" sz="2100" dirty="0" err="1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total_amount</a:t>
            </a:r>
            <a:r>
              <a:rPr lang="en-IN" sz="21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field from Payroll which already accounts for leave         deductions.</a:t>
            </a:r>
          </a:p>
          <a:p>
            <a:endParaRPr lang="en-IN" dirty="0"/>
          </a:p>
        </p:txBody>
      </p:sp>
      <p:sp>
        <p:nvSpPr>
          <p:cNvPr id="4" name="TopBar">
            <a:extLst>
              <a:ext uri="{FF2B5EF4-FFF2-40B4-BE49-F238E27FC236}">
                <a16:creationId xmlns:a16="http://schemas.microsoft.com/office/drawing/2014/main" id="{D7E621EB-74B9-A401-3A4F-3F699034F18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 dirty="0">
                <a:solidFill>
                  <a:srgbClr val="FFFFFF"/>
                </a:solidFill>
                <a:latin typeface="Calibri"/>
              </a:rPr>
              <a:t>Payroll &amp; Compensation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EFE807-A17C-FA3B-6CC3-9D338A942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90" y="5605699"/>
            <a:ext cx="3809857" cy="608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6D2924-E188-2E8D-A345-219E38D47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90" y="3045634"/>
            <a:ext cx="2494150" cy="7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4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>
                <a:solidFill>
                  <a:srgbClr val="FFFFFF"/>
                </a:solidFill>
                <a:latin typeface="Calibri"/>
              </a:rPr>
              <a:t>Challenges Faced</a:t>
            </a:r>
          </a:p>
        </p:txBody>
      </p:sp>
      <p:sp>
        <p:nvSpPr>
          <p:cNvPr id="367" name="LeftCol"/>
          <p:cNvSpPr txBox="1"/>
          <p:nvPr/>
        </p:nvSpPr>
        <p:spPr>
          <a:xfrm>
            <a:off x="0" y="829225"/>
            <a:ext cx="6845417" cy="548147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CC0000"/>
                </a:solidFill>
                <a:latin typeface="Calibri"/>
              </a:rPr>
              <a:t>Technical Challenges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200" b="1" dirty="0">
              <a:solidFill>
                <a:srgbClr val="CC0000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Defining correct table relationships and ensuring accurate use of foreign keys across 6 tables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Maintaining data consistency with cascading updates and deletes (ON DELETE CASCADE vs ON DELETE SET NULL)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Writing complex multi-table JOINs for reports involving employee roles, leaves, and payroll simultaneously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Ensuring all DATE fields follow YYYY-MM-DD format for reliable YEAR() and MONTH() based analysis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Preventing duplicate entries using UNIQUE constraints especially on </a:t>
            </a:r>
            <a:r>
              <a:rPr lang="en-IN" sz="1800" b="1" dirty="0" err="1"/>
              <a:t>emp_email</a:t>
            </a:r>
            <a:r>
              <a:rPr lang="en-IN" sz="1800" b="1" dirty="0"/>
              <a:t> field</a:t>
            </a:r>
            <a:endParaRPr sz="1800" dirty="0"/>
          </a:p>
        </p:txBody>
      </p:sp>
      <p:sp>
        <p:nvSpPr>
          <p:cNvPr id="467" name="RightCol"/>
          <p:cNvSpPr txBox="1"/>
          <p:nvPr/>
        </p:nvSpPr>
        <p:spPr>
          <a:xfrm>
            <a:off x="6845417" y="796604"/>
            <a:ext cx="5346583" cy="5232171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00B050"/>
                </a:solidFill>
                <a:latin typeface="Calibri"/>
              </a:rPr>
              <a:t>What I Learned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200" b="1" dirty="0">
              <a:solidFill>
                <a:srgbClr val="CC0000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Hands-on experience with ER diagram design and normalization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Mastered JOIN types: INNER JOIN, LEFT JOIN across 3+ tables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Used subqueries and window functions for advanced analytics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Understood real-world HR data patterns — leave tracking, payroll processing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Gained confidence in writing production-quality SQL queries</a:t>
            </a:r>
            <a:endParaRPr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opBar"/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wrap="square" lIns="182880" tIns="91440" rIns="182880" bIns="0" anchor="ctr">
            <a:spAutoFit/>
          </a:bodyPr>
          <a:lstStyle/>
          <a:p>
            <a:pPr algn="ctr">
              <a:buNone/>
            </a:pPr>
            <a:r>
              <a:rPr lang="en-IN" sz="2800" b="1">
                <a:solidFill>
                  <a:srgbClr val="FFFFFF"/>
                </a:solidFill>
                <a:latin typeface="Calibri"/>
              </a:rPr>
              <a:t>Conclusion &amp; Key Findings</a:t>
            </a:r>
          </a:p>
        </p:txBody>
      </p:sp>
      <p:sp>
        <p:nvSpPr>
          <p:cNvPr id="368" name="LeftCol"/>
          <p:cNvSpPr txBox="1"/>
          <p:nvPr/>
        </p:nvSpPr>
        <p:spPr>
          <a:xfrm>
            <a:off x="-1" y="864066"/>
            <a:ext cx="6727971" cy="573076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892776"/>
                </a:solidFill>
                <a:latin typeface="Calibri"/>
              </a:rPr>
              <a:t>Key Findings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200" b="1" dirty="0">
              <a:solidFill>
                <a:srgbClr val="CC0000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60 employees are distributed across 10 departments with Finance having the most job roles (9)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Finance Director is the highest paying role at 170,000/month; total company payroll for April 2024 is 2,778,000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All 60 employees have qualifications on record; roles like CTO and CFO carry the highest skill requirements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All 60 leave records fall in 2024; every employee took exactly 1 leave during the period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Finance department leads in both total salary allocation and total bonus payout</a:t>
            </a:r>
            <a:endParaRPr sz="1800" dirty="0"/>
          </a:p>
        </p:txBody>
      </p:sp>
      <p:sp>
        <p:nvSpPr>
          <p:cNvPr id="468" name="RightCol"/>
          <p:cNvSpPr txBox="1"/>
          <p:nvPr/>
        </p:nvSpPr>
        <p:spPr>
          <a:xfrm>
            <a:off x="6811861" y="976226"/>
            <a:ext cx="5380139" cy="570558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txBody>
          <a:bodyPr wrap="square" lIns="91425" tIns="91425" rIns="91425" bIns="91425" anchor="t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2200" b="1" dirty="0">
                <a:solidFill>
                  <a:srgbClr val="CC0000"/>
                </a:solidFill>
                <a:latin typeface="Calibri"/>
              </a:rPr>
              <a:t>Project Impact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2200" b="1" dirty="0">
              <a:solidFill>
                <a:srgbClr val="CC0000"/>
              </a:solidFill>
              <a:latin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800" b="0" dirty="0">
                <a:solidFill>
                  <a:srgbClr val="333333"/>
                </a:solidFill>
                <a:latin typeface="Calibri"/>
              </a:rPr>
              <a:t>This project demonstrates the ability to: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IN" sz="1800" b="0" dirty="0">
              <a:solidFill>
                <a:srgbClr val="333333"/>
              </a:solidFill>
              <a:latin typeface="Calibri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Design a normalized relational database from scratch</a:t>
            </a: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Write 21 analytical SQL queries across 5 business domains</a:t>
            </a: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Identify business insights from HR, payroll, and leave data</a:t>
            </a: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Apply real-world data constraints: PK, FK, UNIQUE, CASCADE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IN" sz="1900" b="1" dirty="0">
                <a:solidFill>
                  <a:srgbClr val="CC0000"/>
                </a:solidFill>
                <a:latin typeface="Calibri"/>
              </a:rPr>
              <a:t>Tools Used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MySQL 8.0  |  MySQL Workbench</a:t>
            </a:r>
            <a:endParaRPr sz="1800" dirty="0"/>
          </a:p>
          <a:p>
            <a:pPr marL="457200" lvl="0" indent="-431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-IN" sz="1800" b="1" dirty="0"/>
              <a:t>SQL: DDL, DML, DQL, Aggregations, JOINs, Subqueries</a:t>
            </a:r>
            <a:endParaRPr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520</TotalTime>
  <Words>2117</Words>
  <Application>Microsoft Office PowerPoint</Application>
  <PresentationFormat>Widescreen</PresentationFormat>
  <Paragraphs>339</Paragraphs>
  <Slides>18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  <vt:variant>
        <vt:lpstr>Custom Shows</vt:lpstr>
      </vt:variant>
      <vt:variant>
        <vt:i4>1</vt:i4>
      </vt:variant>
    </vt:vector>
  </HeadingPairs>
  <TitlesOfParts>
    <vt:vector size="28" baseType="lpstr">
      <vt:lpstr>Libre Baskerville</vt:lpstr>
      <vt:lpstr>Times New Roman</vt:lpstr>
      <vt:lpstr>Rockwell</vt:lpstr>
      <vt:lpstr>Wingdings</vt:lpstr>
      <vt:lpstr>Calibri</vt:lpstr>
      <vt:lpstr>Rockwell Condensed</vt:lpstr>
      <vt:lpstr>Arial</vt:lpstr>
      <vt:lpstr>Consolas</vt:lpstr>
      <vt:lpstr>Wood Type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GOLLA AKHIL</cp:lastModifiedBy>
  <cp:revision>16</cp:revision>
  <dcterms:created xsi:type="dcterms:W3CDTF">2021-02-16T05:19:01Z</dcterms:created>
  <dcterms:modified xsi:type="dcterms:W3CDTF">2026-04-07T18:11:01Z</dcterms:modified>
</cp:coreProperties>
</file>